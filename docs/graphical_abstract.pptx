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60250" y="663800"/>
            <a:ext cx="2363700" cy="416100"/>
          </a:xfrm>
          <a:prstGeom prst="rect">
            <a:avLst/>
          </a:prstGeom>
          <a:gradFill>
            <a:gsLst>
              <a:gs pos="0">
                <a:srgbClr val="DCECD5">
                  <a:alpha val="45100"/>
                </a:srgbClr>
              </a:gs>
              <a:gs pos="100000">
                <a:srgbClr val="92BC81">
                  <a:alpha val="45100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7000" y="67350"/>
            <a:ext cx="530200" cy="5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12975" y="663800"/>
            <a:ext cx="2477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collection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PDBbind 2020v2 Protein Ligand database. 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1532620" y="2439387"/>
            <a:ext cx="0" cy="40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7000" y="3767275"/>
            <a:ext cx="530200" cy="5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>
            <a:off x="313000" y="4297475"/>
            <a:ext cx="2477100" cy="7602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Preprocessing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The ligands of the training complexes were standardized using rdkit. pIC values were added as labels.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" name="Google Shape;60;p13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363" y="1146150"/>
            <a:ext cx="2091465" cy="12932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>
            <a:off x="284500" y="2899925"/>
            <a:ext cx="2515200" cy="4068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After applying filtering- Kinase Protein Ligand dataset - 2496 complexes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75700" y="2459025"/>
            <a:ext cx="367525" cy="367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13"/>
          <p:cNvCxnSpPr/>
          <p:nvPr/>
        </p:nvCxnSpPr>
        <p:spPr>
          <a:xfrm>
            <a:off x="1517645" y="3355574"/>
            <a:ext cx="0" cy="40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64" name="Google Shape;64;p13" title="Chart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69500" y="0"/>
            <a:ext cx="2228456" cy="138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13"/>
          <p:cNvCxnSpPr>
            <a:stCxn id="59" idx="3"/>
            <a:endCxn id="64" idx="1"/>
          </p:cNvCxnSpPr>
          <p:nvPr/>
        </p:nvCxnSpPr>
        <p:spPr>
          <a:xfrm flipH="1" rot="10800000">
            <a:off x="2790100" y="691475"/>
            <a:ext cx="679500" cy="3986100"/>
          </a:xfrm>
          <a:prstGeom prst="bentConnector3">
            <a:avLst>
              <a:gd fmla="val 49993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6" name="Google Shape;66;p13"/>
          <p:cNvSpPr/>
          <p:nvPr/>
        </p:nvSpPr>
        <p:spPr>
          <a:xfrm>
            <a:off x="3419425" y="1721350"/>
            <a:ext cx="2401500" cy="9792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path path="circle">
              <a:fillToRect b="50%" l="50%" r="50%" t="50%"/>
            </a:path>
            <a:tileRect/>
          </a:gradFill>
          <a:ln cap="flat" cmpd="sng" w="79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7">
              <a:highlight>
                <a:schemeClr val="dk1"/>
              </a:highlight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3419425" y="1751425"/>
            <a:ext cx="2328600" cy="9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76200" lIns="76200" spcFirstLastPara="1" rIns="76200" wrap="square" tIns="762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generation</a:t>
            </a:r>
            <a:endParaRPr b="1" sz="10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6116" lvl="0" marL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3"/>
              <a:buFont typeface="Times New Roman"/>
              <a:buAutoNum type="arabicPeriod"/>
            </a:pPr>
            <a:r>
              <a:rPr lang="en" sz="10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ECIF - 2337(complexes) 1540(features)</a:t>
            </a:r>
            <a:endParaRPr sz="10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6116" lvl="0" marL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3"/>
              <a:buFont typeface="Times New Roman"/>
              <a:buAutoNum type="arabicPeriod"/>
            </a:pPr>
            <a:r>
              <a:rPr lang="en" sz="103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RDKIT - 2337(complexes), 217(features)</a:t>
            </a:r>
            <a:endParaRPr sz="103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8" name="Google Shape;68;p13"/>
          <p:cNvCxnSpPr/>
          <p:nvPr/>
        </p:nvCxnSpPr>
        <p:spPr>
          <a:xfrm>
            <a:off x="4620170" y="1269524"/>
            <a:ext cx="0" cy="40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" name="Google Shape;69;p13"/>
          <p:cNvCxnSpPr/>
          <p:nvPr/>
        </p:nvCxnSpPr>
        <p:spPr>
          <a:xfrm>
            <a:off x="4620170" y="2785737"/>
            <a:ext cx="0" cy="40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0" name="Google Shape;70;p13"/>
          <p:cNvSpPr/>
          <p:nvPr/>
        </p:nvSpPr>
        <p:spPr>
          <a:xfrm>
            <a:off x="3419425" y="3306725"/>
            <a:ext cx="2401500" cy="14853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Model Development 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Times New Roman"/>
              <a:buAutoNum type="arabicPeriod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Decision Tree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Times New Roman"/>
              <a:buAutoNum type="arabicPeriod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Random Forest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Times New Roman"/>
              <a:buAutoNum type="arabicPeriod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Gradient Boosting Trees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Times New Roman"/>
              <a:buAutoNum type="arabicPeriod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XGBoost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Times New Roman"/>
              <a:buAutoNum type="arabicPeriod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SVM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3632150" y="3613975"/>
            <a:ext cx="571500" cy="244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ECIF</a:t>
            </a:r>
            <a:endParaRPr sz="1000"/>
          </a:p>
        </p:txBody>
      </p:sp>
      <p:sp>
        <p:nvSpPr>
          <p:cNvPr id="72" name="Google Shape;72;p13"/>
          <p:cNvSpPr/>
          <p:nvPr/>
        </p:nvSpPr>
        <p:spPr>
          <a:xfrm>
            <a:off x="4742050" y="3613975"/>
            <a:ext cx="950700" cy="244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ECIF+RDKIT</a:t>
            </a:r>
            <a:endParaRPr sz="1000"/>
          </a:p>
        </p:txBody>
      </p:sp>
      <p:pic>
        <p:nvPicPr>
          <p:cNvPr id="73" name="Google Shape;73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17825" y="4209300"/>
            <a:ext cx="530200" cy="53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/>
          <p:nvPr/>
        </p:nvSpPr>
        <p:spPr>
          <a:xfrm>
            <a:off x="6809525" y="230050"/>
            <a:ext cx="1691400" cy="367500"/>
          </a:xfrm>
          <a:prstGeom prst="rect">
            <a:avLst/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Hyperparameter Tuning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5" name="Google Shape;75;p13"/>
          <p:cNvCxnSpPr>
            <a:stCxn id="70" idx="2"/>
            <a:endCxn id="74" idx="1"/>
          </p:cNvCxnSpPr>
          <p:nvPr/>
        </p:nvCxnSpPr>
        <p:spPr>
          <a:xfrm rot="-5400000">
            <a:off x="3525775" y="1508225"/>
            <a:ext cx="4378200" cy="2189400"/>
          </a:xfrm>
          <a:prstGeom prst="bentConnector4">
            <a:avLst>
              <a:gd fmla="val -5439" name="adj1"/>
              <a:gd fmla="val 77421" name="adj2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6" name="Google Shape;76;p13"/>
          <p:cNvSpPr/>
          <p:nvPr/>
        </p:nvSpPr>
        <p:spPr>
          <a:xfrm>
            <a:off x="6809525" y="1079900"/>
            <a:ext cx="1691400" cy="367500"/>
          </a:xfrm>
          <a:prstGeom prst="rect">
            <a:avLst/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Best Parameter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7" name="Google Shape;77;p13"/>
          <p:cNvCxnSpPr/>
          <p:nvPr/>
        </p:nvCxnSpPr>
        <p:spPr>
          <a:xfrm>
            <a:off x="7655220" y="635324"/>
            <a:ext cx="0" cy="40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8" name="Google Shape;78;p13"/>
          <p:cNvCxnSpPr/>
          <p:nvPr/>
        </p:nvCxnSpPr>
        <p:spPr>
          <a:xfrm>
            <a:off x="7655220" y="1496849"/>
            <a:ext cx="0" cy="40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9" name="Google Shape;79;p13"/>
          <p:cNvSpPr/>
          <p:nvPr/>
        </p:nvSpPr>
        <p:spPr>
          <a:xfrm>
            <a:off x="6809525" y="1953100"/>
            <a:ext cx="1691400" cy="367500"/>
          </a:xfrm>
          <a:prstGeom prst="rect">
            <a:avLst/>
          </a:prstGeom>
          <a:gradFill>
            <a:gsLst>
              <a:gs pos="0">
                <a:srgbClr val="DBD4EB"/>
              </a:gs>
              <a:gs pos="100000">
                <a:srgbClr val="9080BB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Model Trained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7536425" y="3613975"/>
            <a:ext cx="1512900" cy="13830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External Dataset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Source:PDB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Keywords: Kinases 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Total Kinases complex  after filtering: 12,475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Total downloaded successfully: 6,802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" name="Google Shape;81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60150" y="630675"/>
            <a:ext cx="416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3"/>
          <p:cNvSpPr/>
          <p:nvPr/>
        </p:nvSpPr>
        <p:spPr>
          <a:xfrm>
            <a:off x="6440650" y="3273300"/>
            <a:ext cx="870000" cy="4068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External Prediction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3" name="Google Shape;83;p13"/>
          <p:cNvCxnSpPr>
            <a:endCxn id="82" idx="0"/>
          </p:cNvCxnSpPr>
          <p:nvPr/>
        </p:nvCxnSpPr>
        <p:spPr>
          <a:xfrm rot="5400000">
            <a:off x="6785500" y="2399250"/>
            <a:ext cx="964200" cy="783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3"/>
          <p:cNvCxnSpPr>
            <a:stCxn id="80" idx="1"/>
            <a:endCxn id="82" idx="2"/>
          </p:cNvCxnSpPr>
          <p:nvPr/>
        </p:nvCxnSpPr>
        <p:spPr>
          <a:xfrm rot="10800000">
            <a:off x="6875525" y="3679975"/>
            <a:ext cx="660900" cy="62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